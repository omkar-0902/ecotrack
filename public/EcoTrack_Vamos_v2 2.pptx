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19C78-678A-3F45-8363-6FC5CA107BB8}" v="1" dt="2026-04-19T16:51:03.5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57" d="100"/>
          <a:sy n="157" d="100"/>
        </p:scale>
        <p:origin x="18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Waste (Tons/day)</c:v>
                </c:pt>
              </c:strCache>
            </c:strRef>
          </c:tx>
          <c:spPr>
            <a:solidFill>
              <a:srgbClr val="00B359"/>
            </a:solidFill>
            <a:effectLst/>
          </c:spPr>
          <c:invertIfNegative val="0"/>
          <c:dPt>
            <c:idx val="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BA51-0445-A4AC-ABB3D5DA487B}"/>
              </c:ext>
            </c:extLst>
          </c:dPt>
          <c:dPt>
            <c:idx val="1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BA51-0445-A4AC-ABB3D5DA487B}"/>
              </c:ext>
            </c:extLst>
          </c:dPt>
          <c:dPt>
            <c:idx val="2"/>
            <c:invertIfNegative val="0"/>
            <c:bubble3D val="0"/>
            <c:spPr>
              <a:solidFill>
                <a:srgbClr val="1A6B35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A51-0445-A4AC-ABB3D5DA487B}"/>
              </c:ext>
            </c:extLst>
          </c:dPt>
          <c:dPt>
            <c:idx val="3"/>
            <c:invertIfNegative val="0"/>
            <c:bubble3D val="0"/>
            <c:spPr>
              <a:solidFill>
                <a:srgbClr val="1A6B35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BA51-0445-A4AC-ABB3D5DA487B}"/>
              </c:ext>
            </c:extLst>
          </c:dPt>
          <c:dPt>
            <c:idx val="4"/>
            <c:invertIfNegative val="0"/>
            <c:bubble3D val="0"/>
            <c:spPr>
              <a:solidFill>
                <a:srgbClr val="143319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BA51-0445-A4AC-ABB3D5DA487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Metro</c:v>
                </c:pt>
                <c:pt idx="1">
                  <c:v>Tier 1</c:v>
                </c:pt>
                <c:pt idx="2">
                  <c:v>Tier 2</c:v>
                </c:pt>
                <c:pt idx="3">
                  <c:v>Tier 3</c:v>
                </c:pt>
                <c:pt idx="4">
                  <c:v>Rural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4500</c:v>
                </c:pt>
                <c:pt idx="1">
                  <c:v>1800</c:v>
                </c:pt>
                <c:pt idx="2">
                  <c:v>700</c:v>
                </c:pt>
                <c:pt idx="3">
                  <c:v>250</c:v>
                </c:pt>
                <c:pt idx="4">
                  <c:v>80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A-BA51-0445-A4AC-ABB3D5DA48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68434792"/>
        <c:axId val="269438816"/>
      </c:barChart>
      <c:catAx>
        <c:axId val="2684347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D6A7"/>
                </a:solidFill>
                <a:latin typeface="Arial"/>
              </a:defRPr>
            </a:pPr>
            <a:endParaRPr lang="en-US"/>
          </a:p>
        </c:txPr>
        <c:crossAx val="269438816"/>
        <c:crosses val="autoZero"/>
        <c:auto val="1"/>
        <c:lblAlgn val="ctr"/>
        <c:lblOffset val="100"/>
        <c:noMultiLvlLbl val="1"/>
      </c:catAx>
      <c:valAx>
        <c:axId val="26943881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1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D6A7"/>
                </a:solidFill>
                <a:latin typeface="Arial"/>
              </a:defRPr>
            </a:pPr>
            <a:endParaRPr lang="en-US"/>
          </a:p>
        </c:txPr>
        <c:crossAx val="2684347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F0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359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BC76-854A-A23D-8EA12268251C}"/>
              </c:ext>
            </c:extLst>
          </c:dPt>
          <c:dPt>
            <c:idx val="1"/>
            <c:bubble3D val="0"/>
            <c:spPr>
              <a:solidFill>
                <a:srgbClr val="1A6B35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BC76-854A-A23D-8EA12268251C}"/>
              </c:ext>
            </c:extLst>
          </c:dPt>
          <c:dPt>
            <c:idx val="2"/>
            <c:bubble3D val="0"/>
            <c:spPr>
              <a:solidFill>
                <a:srgbClr val="0F4A25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BC76-854A-A23D-8EA12268251C}"/>
              </c:ext>
            </c:extLst>
          </c:dPt>
          <c:dPt>
            <c:idx val="3"/>
            <c:bubble3D val="0"/>
            <c:spPr>
              <a:solidFill>
                <a:srgbClr val="0A3018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BC76-854A-A23D-8EA12268251C}"/>
              </c:ext>
            </c:extLst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BC76-854A-A23D-8EA12268251C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BC76-854A-A23D-8EA12268251C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BC76-854A-A23D-8EA12268251C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BC76-854A-A23D-8EA12268251C}"/>
                </c:ex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Metro Cities</c:v>
                </c:pt>
                <c:pt idx="1">
                  <c:v>Tier 1</c:v>
                </c:pt>
                <c:pt idx="2">
                  <c:v>Tier 2</c:v>
                </c:pt>
                <c:pt idx="3">
                  <c:v>Tier 3 &amp; Rural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28</c:v>
                </c:pt>
                <c:pt idx="2">
                  <c:v>22</c:v>
                </c:pt>
                <c:pt idx="3">
                  <c:v>15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BC76-854A-A23D-8EA1226825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000">
              <a:solidFill>
                <a:srgbClr val="A5D6A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F0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EcoTrack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Revisit Cost</c:v>
                </c:pt>
                <c:pt idx="1">
                  <c:v>Cleanup Cost</c:v>
                </c:pt>
                <c:pt idx="2">
                  <c:v>Total Daily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25000</c:v>
                </c:pt>
                <c:pt idx="1">
                  <c:v>50000</c:v>
                </c:pt>
                <c:pt idx="2">
                  <c:v>75000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B515-064A-8DE9-543883F357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EcoTrack</c:v>
                </c:pt>
              </c:strCache>
            </c:strRef>
          </c:tx>
          <c:spPr>
            <a:solidFill>
              <a:srgbClr val="00B35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Revisit Cost</c:v>
                </c:pt>
                <c:pt idx="1">
                  <c:v>Cleanup Cost</c:v>
                </c:pt>
                <c:pt idx="2">
                  <c:v>Total Daily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7000</c:v>
                </c:pt>
                <c:pt idx="1">
                  <c:v>14000</c:v>
                </c:pt>
                <c:pt idx="2">
                  <c:v>21000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B515-064A-8DE9-543883F3570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70242208"/>
        <c:axId val="270243776"/>
      </c:barChart>
      <c:catAx>
        <c:axId val="270242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D6A7"/>
                </a:solidFill>
                <a:latin typeface="Arial"/>
              </a:defRPr>
            </a:pPr>
            <a:endParaRPr lang="en-US"/>
          </a:p>
        </c:txPr>
        <c:crossAx val="270243776"/>
        <c:crosses val="autoZero"/>
        <c:auto val="1"/>
        <c:lblAlgn val="ctr"/>
        <c:lblOffset val="100"/>
        <c:noMultiLvlLbl val="1"/>
      </c:catAx>
      <c:valAx>
        <c:axId val="270243776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1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D6A7"/>
                </a:solidFill>
                <a:latin typeface="Arial"/>
              </a:defRPr>
            </a:pPr>
            <a:endParaRPr lang="en-US"/>
          </a:p>
        </c:txPr>
        <c:crossAx val="270242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A5D6A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F0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Without EcoTrack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22.5</c:v>
                </c:pt>
                <c:pt idx="1">
                  <c:v>23</c:v>
                </c:pt>
                <c:pt idx="2">
                  <c:v>22.8</c:v>
                </c:pt>
                <c:pt idx="3">
                  <c:v>23.2</c:v>
                </c:pt>
                <c:pt idx="4">
                  <c:v>23.5</c:v>
                </c:pt>
                <c:pt idx="5">
                  <c:v>24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0D54-0048-918E-E5EC6874ED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EcoTrack</c:v>
                </c:pt>
              </c:strCache>
            </c:strRef>
          </c:tx>
          <c:spPr>
            <a:ln w="38100" cap="flat">
              <a:solidFill>
                <a:srgbClr val="00B3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359"/>
              </a:solidFill>
              <a:ln w="9525" cap="flat">
                <a:solidFill>
                  <a:srgbClr val="00B35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6.3</c:v>
                </c:pt>
                <c:pt idx="1">
                  <c:v>5.8</c:v>
                </c:pt>
                <c:pt idx="2">
                  <c:v>5.5</c:v>
                </c:pt>
                <c:pt idx="3">
                  <c:v>5.2</c:v>
                </c:pt>
                <c:pt idx="4">
                  <c:v>4.9000000000000004</c:v>
                </c:pt>
                <c:pt idx="5">
                  <c:v>4.5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1-0D54-0048-918E-E5EC6874ED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0241032"/>
        <c:axId val="270239072"/>
      </c:lineChart>
      <c:catAx>
        <c:axId val="27024103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D6A7"/>
                </a:solidFill>
                <a:latin typeface="Arial"/>
              </a:defRPr>
            </a:pPr>
            <a:endParaRPr lang="en-US"/>
          </a:p>
        </c:txPr>
        <c:crossAx val="270239072"/>
        <c:crosses val="autoZero"/>
        <c:auto val="1"/>
        <c:lblAlgn val="ctr"/>
        <c:lblOffset val="100"/>
        <c:noMultiLvlLbl val="1"/>
      </c:catAx>
      <c:valAx>
        <c:axId val="27023907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1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D6A7"/>
                </a:solidFill>
                <a:latin typeface="Arial"/>
              </a:defRPr>
            </a:pPr>
            <a:endParaRPr lang="en-US"/>
          </a:p>
        </c:txPr>
        <c:crossAx val="2702410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A5D6A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F0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Improvement (%)</c:v>
                </c:pt>
              </c:strCache>
            </c:strRef>
          </c:tx>
          <c:spPr>
            <a:solidFill>
              <a:srgbClr val="00B359"/>
            </a:solidFill>
            <a:effectLst/>
          </c:spPr>
          <c:invertIfNegative val="0"/>
          <c:dPt>
            <c:idx val="0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EFB0-E846-9DCF-F82EB5488544}"/>
              </c:ext>
            </c:extLst>
          </c:dPt>
          <c:dPt>
            <c:idx val="1"/>
            <c:invertIfNegative val="0"/>
            <c:bubble3D val="0"/>
            <c:spPr>
              <a:solidFill>
                <a:srgbClr val="1A6B35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FB0-E846-9DCF-F82EB5488544}"/>
              </c:ext>
            </c:extLst>
          </c:dPt>
          <c:dPt>
            <c:idx val="2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5-EFB0-E846-9DCF-F82EB5488544}"/>
              </c:ext>
            </c:extLst>
          </c:dPt>
          <c:dPt>
            <c:idx val="3"/>
            <c:invertIfNegative val="0"/>
            <c:bubble3D val="0"/>
            <c:spPr>
              <a:solidFill>
                <a:srgbClr val="1A6B35"/>
              </a:solidFill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EFB0-E846-9DCF-F82EB5488544}"/>
              </c:ext>
            </c:extLst>
          </c:dPt>
          <c:dPt>
            <c:idx val="4"/>
            <c:invertIfNegative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9-EFB0-E846-9DCF-F82EB54885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Pickup Success</c:v>
                </c:pt>
                <c:pt idx="1">
                  <c:v>Route Efficiency</c:v>
                </c:pt>
                <c:pt idx="2">
                  <c:v>User Engagement</c:v>
                </c:pt>
                <c:pt idx="3">
                  <c:v>Cost Reduction</c:v>
                </c:pt>
                <c:pt idx="4">
                  <c:v>Response Time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73</c:v>
                </c:pt>
                <c:pt idx="1">
                  <c:v>65</c:v>
                </c:pt>
                <c:pt idx="2">
                  <c:v>80</c:v>
                </c:pt>
                <c:pt idx="3">
                  <c:v>70</c:v>
                </c:pt>
                <c:pt idx="4">
                  <c:v>60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A-EFB0-E846-9DCF-F82EB54885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70237112"/>
        <c:axId val="270241424"/>
      </c:barChart>
      <c:catAx>
        <c:axId val="27023711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D6A7"/>
                </a:solidFill>
                <a:latin typeface="Arial"/>
              </a:defRPr>
            </a:pPr>
            <a:endParaRPr lang="en-US"/>
          </a:p>
        </c:txPr>
        <c:crossAx val="270241424"/>
        <c:crosses val="autoZero"/>
        <c:auto val="1"/>
        <c:lblAlgn val="ctr"/>
        <c:lblOffset val="100"/>
        <c:noMultiLvlLbl val="1"/>
      </c:catAx>
      <c:valAx>
        <c:axId val="27024142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A3A1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D6A7"/>
                </a:solidFill>
                <a:latin typeface="Arial"/>
              </a:defRPr>
            </a:pPr>
            <a:endParaRPr lang="en-US"/>
          </a:p>
        </c:txPr>
        <c:crossAx val="2702371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F0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DDE8B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5DDE8B"/>
                </a:solidFill>
                <a:latin typeface="Arial"/>
              </a:rPr>
              <a:t>📈 City Scale-Up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Cities Onboarded</c:v>
                </c:pt>
              </c:strCache>
            </c:strRef>
          </c:tx>
          <c:spPr>
            <a:ln w="38100" cap="flat">
              <a:solidFill>
                <a:srgbClr val="00B35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359"/>
              </a:solidFill>
              <a:ln w="9525" cap="flat">
                <a:solidFill>
                  <a:srgbClr val="00B359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Y2 Q1</c:v>
                </c:pt>
                <c:pt idx="5">
                  <c:v>Y2 Q2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12</c:v>
                </c:pt>
                <c:pt idx="4">
                  <c:v>25</c:v>
                </c:pt>
                <c:pt idx="5">
                  <c:v>50</c:v>
                </c:pt>
              </c:numCache>
            </c:numRef>
          </c:val>
          <c:smooth val="1"/>
          <c:extLst xmlns:c16r2="http://schemas.microsoft.com/office/drawing/2015/06/chart">
            <c:ext xmlns:c16="http://schemas.microsoft.com/office/drawing/2014/chart" uri="{C3380CC4-5D6E-409C-BE32-E72D297353CC}">
              <c16:uniqueId val="{00000000-931A-9543-9250-EE7B40EE66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0243384"/>
        <c:axId val="270237504"/>
      </c:lineChart>
      <c:catAx>
        <c:axId val="27024338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D6A7"/>
                </a:solidFill>
                <a:latin typeface="Arial"/>
              </a:defRPr>
            </a:pPr>
            <a:endParaRPr lang="en-US"/>
          </a:p>
        </c:txPr>
        <c:crossAx val="270237504"/>
        <c:crosses val="autoZero"/>
        <c:auto val="1"/>
        <c:lblAlgn val="ctr"/>
        <c:lblOffset val="100"/>
        <c:noMultiLvlLbl val="1"/>
      </c:catAx>
      <c:valAx>
        <c:axId val="270237504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1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5D6A7"/>
                </a:solidFill>
                <a:latin typeface="Arial"/>
              </a:defRPr>
            </a:pPr>
            <a:endParaRPr lang="en-US"/>
          </a:p>
        </c:txPr>
        <c:crossAx val="2702433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txPr>
        <a:bodyPr/>
        <a:lstStyle/>
        <a:p>
          <a:pPr>
            <a:defRPr sz="1000">
              <a:solidFill>
                <a:srgbClr val="A5D6A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F1F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4747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5.xml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-27432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" y="3749040"/>
            <a:ext cx="1371600" cy="1371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0312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45720"/>
            <a:ext cx="548640" cy="5486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669280" y="-1645920"/>
            <a:ext cx="5486400" cy="5486400"/>
          </a:xfrm>
          <a:prstGeom prst="ellipse">
            <a:avLst/>
          </a:prstGeom>
          <a:solidFill>
            <a:srgbClr val="1A6B35">
              <a:alpha val="20000"/>
            </a:srgbClr>
          </a:solidFill>
          <a:ln w="12700">
            <a:solidFill>
              <a:srgbClr val="1A6B35">
                <a:alpha val="2000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1A6B35">
              <a:alpha val="15000"/>
            </a:srgbClr>
          </a:solidFill>
          <a:ln w="12700">
            <a:solidFill>
              <a:srgbClr val="1A6B35">
                <a:alpha val="15000"/>
              </a:srgbClr>
            </a:solidFill>
            <a:prstDash val="solid"/>
          </a:ln>
        </p:spPr>
      </p:sp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182880"/>
            <a:ext cx="2011680" cy="2011680"/>
          </a:xfrm>
          <a:prstGeom prst="rect">
            <a:avLst/>
          </a:prstGeom>
        </p:spPr>
      </p:pic>
      <p:sp>
        <p:nvSpPr>
          <p:cNvPr id="9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548640"/>
            <a:ext cx="3931920" cy="251460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365760" y="5029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🌿 EcoTrack</a:t>
            </a:r>
            <a:endParaRPr lang="en-US" sz="6200" dirty="0"/>
          </a:p>
        </p:txBody>
      </p:sp>
      <p:sp>
        <p:nvSpPr>
          <p:cNvPr id="12" name="Text 4"/>
          <p:cNvSpPr/>
          <p:nvPr/>
        </p:nvSpPr>
        <p:spPr>
          <a:xfrm>
            <a:off x="365760" y="1865574"/>
            <a:ext cx="4595854" cy="534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F5E9"/>
                </a:solidFill>
              </a:rPr>
              <a:t>Smart Garbage Management System</a:t>
            </a:r>
            <a:endParaRPr lang="en-US" sz="2000" dirty="0"/>
          </a:p>
        </p:txBody>
      </p:sp>
      <p:sp>
        <p:nvSpPr>
          <p:cNvPr id="13" name="Shape 5"/>
          <p:cNvSpPr/>
          <p:nvPr/>
        </p:nvSpPr>
        <p:spPr>
          <a:xfrm>
            <a:off x="365760" y="2331720"/>
            <a:ext cx="4206240" cy="45720"/>
          </a:xfrm>
          <a:prstGeom prst="line">
            <a:avLst/>
          </a:prstGeom>
          <a:noFill/>
          <a:ln w="19050">
            <a:solidFill>
              <a:srgbClr val="1A6B35"/>
            </a:solidFill>
            <a:prstDash val="solid"/>
          </a:ln>
        </p:spPr>
      </p:sp>
      <p:sp>
        <p:nvSpPr>
          <p:cNvPr id="14" name="Text 6"/>
          <p:cNvSpPr/>
          <p:nvPr/>
        </p:nvSpPr>
        <p:spPr>
          <a:xfrm>
            <a:off x="365760" y="24231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5D6A7"/>
                </a:solidFill>
              </a:rPr>
              <a:t>"Right pickup, at the right place, at the right time."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365760" y="2971800"/>
            <a:ext cx="8412480" cy="411480"/>
          </a:xfrm>
          <a:prstGeom prst="rect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457200" y="297180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  TEAM VAMOS  </a:t>
            </a:r>
            <a:endParaRPr lang="en-US" sz="1400" dirty="0"/>
          </a:p>
        </p:txBody>
      </p:sp>
      <p:sp>
        <p:nvSpPr>
          <p:cNvPr id="18" name="Text 10"/>
          <p:cNvSpPr/>
          <p:nvPr/>
        </p:nvSpPr>
        <p:spPr>
          <a:xfrm>
            <a:off x="457200" y="347472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CC71"/>
                </a:solidFill>
              </a:rPr>
              <a:t> CHINMAY    </a:t>
            </a:r>
            <a:r>
              <a:rPr lang="en-US" sz="1500" b="1" dirty="0">
                <a:solidFill>
                  <a:srgbClr val="5DDE8B"/>
                </a:solidFill>
              </a:rPr>
              <a:t> APEKSHA   </a:t>
            </a:r>
            <a:r>
              <a:rPr lang="en-US" sz="1500" b="1" dirty="0">
                <a:solidFill>
                  <a:srgbClr val="2ECC71"/>
                </a:solidFill>
              </a:rPr>
              <a:t> </a:t>
            </a:r>
            <a:r>
              <a:rPr lang="en-US" sz="1500" b="1" dirty="0" smtClean="0">
                <a:solidFill>
                  <a:srgbClr val="2ECC71"/>
                </a:solidFill>
              </a:rPr>
              <a:t>SUBRAMANYA    </a:t>
            </a:r>
            <a:r>
              <a:rPr lang="en-US" sz="1500" b="1" dirty="0" smtClean="0">
                <a:solidFill>
                  <a:srgbClr val="5DDE8B"/>
                </a:solidFill>
              </a:rPr>
              <a:t> </a:t>
            </a:r>
            <a:r>
              <a:rPr lang="en-US" sz="1500" b="1" dirty="0">
                <a:solidFill>
                  <a:srgbClr val="5DDE8B"/>
                </a:solidFill>
              </a:rPr>
              <a:t>OMKAR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-27432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" y="3749040"/>
            <a:ext cx="1371600" cy="1371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0312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45720"/>
            <a:ext cx="548640" cy="5486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0F"/>
          </a:solidFill>
          <a:ln w="12700">
            <a:solidFill>
              <a:srgbClr val="0F1F0F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C71"/>
                </a:solidFill>
              </a:rPr>
              <a:t>                              Problem Statement</a:t>
            </a:r>
            <a:endParaRPr lang="en-US" sz="2800" dirty="0"/>
          </a:p>
        </p:txBody>
      </p:sp>
      <p:sp>
        <p:nvSpPr>
          <p:cNvPr id="9" name="Shape 3"/>
          <p:cNvSpPr/>
          <p:nvPr/>
        </p:nvSpPr>
        <p:spPr>
          <a:xfrm>
            <a:off x="320040" y="960120"/>
            <a:ext cx="1600200" cy="132588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320040" y="960120"/>
            <a:ext cx="16002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320040" y="1005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12" name="Text 6"/>
          <p:cNvSpPr/>
          <p:nvPr/>
        </p:nvSpPr>
        <p:spPr>
          <a:xfrm>
            <a:off x="320040" y="15087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5E9"/>
                </a:solidFill>
              </a:rPr>
              <a:t>Missed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5E9"/>
                </a:solidFill>
              </a:rPr>
              <a:t>Pickups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1993392" y="960120"/>
            <a:ext cx="1600200" cy="132588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1993392" y="960120"/>
            <a:ext cx="16002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1993392" y="1005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🔕</a:t>
            </a:r>
            <a:endParaRPr lang="en-US" sz="2600" dirty="0"/>
          </a:p>
        </p:txBody>
      </p:sp>
      <p:sp>
        <p:nvSpPr>
          <p:cNvPr id="16" name="Text 10"/>
          <p:cNvSpPr/>
          <p:nvPr/>
        </p:nvSpPr>
        <p:spPr>
          <a:xfrm>
            <a:off x="1993392" y="15087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5E9"/>
                </a:solidFill>
              </a:rPr>
              <a:t>No Arrival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5E9"/>
                </a:solidFill>
              </a:rPr>
              <a:t>Alerts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3666744" y="960120"/>
            <a:ext cx="1600200" cy="132588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666744" y="960120"/>
            <a:ext cx="16002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666744" y="1005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🛣️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3666744" y="15087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5E9"/>
                </a:solidFill>
              </a:rPr>
              <a:t>Inefficient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5E9"/>
                </a:solidFill>
              </a:rPr>
              <a:t>Routes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340096" y="960120"/>
            <a:ext cx="1600200" cy="132588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340096" y="960120"/>
            <a:ext cx="16002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340096" y="1005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🗑️</a:t>
            </a:r>
            <a:endParaRPr lang="en-US" sz="2600" dirty="0"/>
          </a:p>
        </p:txBody>
      </p:sp>
      <p:sp>
        <p:nvSpPr>
          <p:cNvPr id="24" name="Text 18"/>
          <p:cNvSpPr/>
          <p:nvPr/>
        </p:nvSpPr>
        <p:spPr>
          <a:xfrm>
            <a:off x="5340096" y="15087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5E9"/>
                </a:solidFill>
              </a:rPr>
              <a:t>Illegal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5E9"/>
                </a:solidFill>
              </a:rPr>
              <a:t>Dumping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013448" y="960120"/>
            <a:ext cx="1600200" cy="132588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013448" y="960120"/>
            <a:ext cx="1600200" cy="7315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013448" y="1005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📵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7013448" y="15087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E8F5E9"/>
                </a:solidFill>
              </a:rPr>
              <a:t>No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E8F5E9"/>
                </a:solidFill>
              </a:rPr>
              <a:t>Accountability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20040" y="2395728"/>
            <a:ext cx="8485632" cy="502920"/>
          </a:xfrm>
          <a:prstGeom prst="rect">
            <a:avLst/>
          </a:prstGeom>
          <a:solidFill>
            <a:srgbClr val="16080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239572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6B"/>
                </a:solidFill>
              </a:rPr>
              <a:t>        Impact:  </a:t>
            </a:r>
            <a:r>
              <a:rPr lang="en-US" sz="1250" dirty="0">
                <a:solidFill>
                  <a:srgbClr val="E8F5E9"/>
                </a:solidFill>
              </a:rPr>
              <a:t>Unhygienic environments, poor city cleanliness &amp; inefficient municipal operations.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320040" y="29900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DE8B"/>
                </a:solidFill>
              </a:rPr>
              <a:t>Waste Generation by City Tier (Tons/Day)</a:t>
            </a:r>
            <a:endParaRPr lang="en-US" sz="12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320040" y="3291840"/>
          <a:ext cx="5029200" cy="1627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3" name="Shape 26"/>
          <p:cNvSpPr/>
          <p:nvPr/>
        </p:nvSpPr>
        <p:spPr>
          <a:xfrm>
            <a:off x="5577840" y="3291840"/>
            <a:ext cx="3200400" cy="5029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623560" y="32918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</a:rPr>
              <a:t>150K+</a:t>
            </a:r>
            <a:endParaRPr lang="en-US" sz="2000" dirty="0"/>
          </a:p>
        </p:txBody>
      </p:sp>
      <p:sp>
        <p:nvSpPr>
          <p:cNvPr id="35" name="Text 28"/>
          <p:cNvSpPr/>
          <p:nvPr/>
        </p:nvSpPr>
        <p:spPr>
          <a:xfrm>
            <a:off x="6858000" y="3291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Tons/day India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5577840" y="3858768"/>
            <a:ext cx="3200400" cy="5029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623560" y="385876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</a:rPr>
              <a:t>25%</a:t>
            </a:r>
            <a:endParaRPr lang="en-US" sz="2000" dirty="0"/>
          </a:p>
        </p:txBody>
      </p:sp>
      <p:sp>
        <p:nvSpPr>
          <p:cNvPr id="38" name="Text 31"/>
          <p:cNvSpPr/>
          <p:nvPr/>
        </p:nvSpPr>
        <p:spPr>
          <a:xfrm>
            <a:off x="6858000" y="3858768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Missed pickup rate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5577840" y="4425696"/>
            <a:ext cx="3200400" cy="5029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5623560" y="4425696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</a:rPr>
              <a:t>₹22.5L</a:t>
            </a:r>
            <a:endParaRPr lang="en-US" sz="2000" dirty="0"/>
          </a:p>
        </p:txBody>
      </p:sp>
      <p:sp>
        <p:nvSpPr>
          <p:cNvPr id="41" name="Text 34"/>
          <p:cNvSpPr/>
          <p:nvPr/>
        </p:nvSpPr>
        <p:spPr>
          <a:xfrm>
            <a:off x="6858000" y="4425696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Monthly loss/city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-27432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" y="3749040"/>
            <a:ext cx="1371600" cy="1371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0312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45720"/>
            <a:ext cx="548640" cy="5486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0F"/>
          </a:solidFill>
          <a:ln w="12700">
            <a:solidFill>
              <a:srgbClr val="0F1F0F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C71"/>
                </a:solidFill>
              </a:rPr>
              <a:t>                                     Solution Overview</a:t>
            </a:r>
            <a:endParaRPr lang="en-US" sz="28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" y="960120"/>
            <a:ext cx="1691640" cy="2468880"/>
          </a:xfrm>
          <a:prstGeom prst="rect">
            <a:avLst/>
          </a:prstGeom>
        </p:spPr>
      </p:pic>
      <p:sp>
        <p:nvSpPr>
          <p:cNvPr id="10" name="Shape 3"/>
          <p:cNvSpPr/>
          <p:nvPr/>
        </p:nvSpPr>
        <p:spPr>
          <a:xfrm>
            <a:off x="2103120" y="960120"/>
            <a:ext cx="2926080" cy="2468880"/>
          </a:xfrm>
          <a:prstGeom prst="rect">
            <a:avLst/>
          </a:prstGeom>
          <a:solidFill>
            <a:srgbClr val="152415"/>
          </a:solidFill>
          <a:ln w="15240">
            <a:solidFill>
              <a:srgbClr val="1A6B35"/>
            </a:solidFill>
            <a:prstDash val="solid"/>
          </a:ln>
        </p:spPr>
      </p:sp>
      <p:sp>
        <p:nvSpPr>
          <p:cNvPr id="11" name="Shape 4"/>
          <p:cNvSpPr/>
          <p:nvPr/>
        </p:nvSpPr>
        <p:spPr>
          <a:xfrm>
            <a:off x="2103120" y="960120"/>
            <a:ext cx="2926080" cy="384048"/>
          </a:xfrm>
          <a:prstGeom prst="rect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2" name="Text 5"/>
          <p:cNvSpPr/>
          <p:nvPr/>
        </p:nvSpPr>
        <p:spPr>
          <a:xfrm>
            <a:off x="2103120" y="96012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 RESIDENT</a:t>
            </a:r>
            <a:endParaRPr lang="en-US" sz="1300" dirty="0"/>
          </a:p>
        </p:txBody>
      </p:sp>
      <p:sp>
        <p:nvSpPr>
          <p:cNvPr id="13" name="Text 6"/>
          <p:cNvSpPr/>
          <p:nvPr/>
        </p:nvSpPr>
        <p:spPr>
          <a:xfrm>
            <a:off x="2212848" y="14356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 Request pickup via app</a:t>
            </a:r>
            <a:endParaRPr lang="en-US" sz="1150" dirty="0"/>
          </a:p>
        </p:txBody>
      </p:sp>
      <p:sp>
        <p:nvSpPr>
          <p:cNvPr id="14" name="Text 7"/>
          <p:cNvSpPr/>
          <p:nvPr/>
        </p:nvSpPr>
        <p:spPr>
          <a:xfrm>
            <a:off x="2212848" y="183794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 Notified when collector arrives</a:t>
            </a:r>
            <a:endParaRPr lang="en-US" sz="1150" dirty="0"/>
          </a:p>
        </p:txBody>
      </p:sp>
      <p:sp>
        <p:nvSpPr>
          <p:cNvPr id="15" name="Text 8"/>
          <p:cNvSpPr/>
          <p:nvPr/>
        </p:nvSpPr>
        <p:spPr>
          <a:xfrm>
            <a:off x="2212848" y="2240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Mark garbage on map</a:t>
            </a:r>
            <a:endParaRPr lang="en-US" sz="1150" dirty="0"/>
          </a:p>
        </p:txBody>
      </p:sp>
      <p:sp>
        <p:nvSpPr>
          <p:cNvPr id="16" name="Text 9"/>
          <p:cNvSpPr/>
          <p:nvPr/>
        </p:nvSpPr>
        <p:spPr>
          <a:xfrm>
            <a:off x="2212848" y="26426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Confirm pickup done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2212848" y="3044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 Earn Eco Points</a:t>
            </a:r>
            <a:endParaRPr lang="en-US" sz="11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960120"/>
            <a:ext cx="3657600" cy="246888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166360" y="3456432"/>
            <a:ext cx="3657600" cy="237744"/>
          </a:xfrm>
          <a:prstGeom prst="rect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5166360" y="34564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🚛  COLLECTOR  —  Live Geofencing Map</a:t>
            </a:r>
            <a:endParaRPr lang="en-US" sz="950" dirty="0"/>
          </a:p>
        </p:txBody>
      </p:sp>
      <p:sp>
        <p:nvSpPr>
          <p:cNvPr id="21" name="Shape 13"/>
          <p:cNvSpPr/>
          <p:nvPr/>
        </p:nvSpPr>
        <p:spPr>
          <a:xfrm>
            <a:off x="320040" y="3794760"/>
            <a:ext cx="8485632" cy="1170432"/>
          </a:xfrm>
          <a:prstGeom prst="rect">
            <a:avLst/>
          </a:prstGeom>
          <a:solidFill>
            <a:srgbClr val="0F1F0F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DE8B"/>
                </a:solidFill>
              </a:rPr>
              <a:t>📡  How Geo-Fencing Works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384048" y="4133088"/>
            <a:ext cx="868680" cy="7315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384048" y="4133088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5E9"/>
                </a:solidFill>
              </a:rPr>
              <a:t>Resident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5E9"/>
                </a:solidFill>
              </a:rPr>
              <a:t>Pins Location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1545336" y="4297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C71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18"/>
          <p:cNvSpPr/>
          <p:nvPr/>
        </p:nvSpPr>
        <p:spPr>
          <a:xfrm>
            <a:off x="2249424" y="4133088"/>
            <a:ext cx="868680" cy="7315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2249424" y="4133088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5E9"/>
                </a:solidFill>
              </a:rPr>
              <a:t>Truck Enters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5E9"/>
                </a:solidFill>
              </a:rPr>
              <a:t>Geo-Zone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3410712" y="4297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C71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Shape 21"/>
          <p:cNvSpPr/>
          <p:nvPr/>
        </p:nvSpPr>
        <p:spPr>
          <a:xfrm>
            <a:off x="4114800" y="4133088"/>
            <a:ext cx="868680" cy="7315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0" name="Text 22"/>
          <p:cNvSpPr/>
          <p:nvPr/>
        </p:nvSpPr>
        <p:spPr>
          <a:xfrm>
            <a:off x="4114800" y="4133088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5E9"/>
                </a:solidFill>
              </a:rPr>
              <a:t>Auto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5E9"/>
                </a:solidFill>
              </a:rPr>
              <a:t>Notification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5276088" y="4297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C71"/>
                </a:solidFill>
              </a:rPr>
              <a:t>→</a:t>
            </a:r>
            <a:endParaRPr lang="en-US" sz="1600" dirty="0"/>
          </a:p>
        </p:txBody>
      </p:sp>
      <p:sp>
        <p:nvSpPr>
          <p:cNvPr id="32" name="Shape 24"/>
          <p:cNvSpPr/>
          <p:nvPr/>
        </p:nvSpPr>
        <p:spPr>
          <a:xfrm>
            <a:off x="5980176" y="4133088"/>
            <a:ext cx="868680" cy="7315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3" name="Text 25"/>
          <p:cNvSpPr/>
          <p:nvPr/>
        </p:nvSpPr>
        <p:spPr>
          <a:xfrm>
            <a:off x="5980176" y="4133088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5E9"/>
                </a:solidFill>
              </a:rPr>
              <a:t>Resident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5E9"/>
                </a:solidFill>
              </a:rPr>
              <a:t>Ready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7141464" y="4297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CC71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7845552" y="4133088"/>
            <a:ext cx="868680" cy="7315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7845552" y="4133088"/>
            <a:ext cx="868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5E9"/>
                </a:solidFill>
              </a:rPr>
              <a:t>Pickup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F5E9"/>
                </a:solidFill>
              </a:rPr>
              <a:t>Confirmed ✅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-27432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" y="3749040"/>
            <a:ext cx="1371600" cy="1371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0312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45720"/>
            <a:ext cx="548640" cy="5486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0F"/>
          </a:solidFill>
          <a:ln w="12700">
            <a:solidFill>
              <a:srgbClr val="0F1F0F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71"/>
                </a:solidFill>
              </a:rPr>
              <a:t>                       Target Market &amp; Market Analysis</a:t>
            </a:r>
            <a:endParaRPr lang="en-US" sz="2600" dirty="0"/>
          </a:p>
        </p:txBody>
      </p:sp>
      <p:sp>
        <p:nvSpPr>
          <p:cNvPr id="9" name="Shape 3"/>
          <p:cNvSpPr/>
          <p:nvPr/>
        </p:nvSpPr>
        <p:spPr>
          <a:xfrm>
            <a:off x="320040" y="960120"/>
            <a:ext cx="2697480" cy="160020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320040" y="960120"/>
            <a:ext cx="2697480" cy="502920"/>
          </a:xfrm>
          <a:prstGeom prst="rect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411480" y="960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🏠  Urban Residents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411480" y="1508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Apartments &amp; gated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communities needing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reliable pickup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3246120" y="960120"/>
            <a:ext cx="2697480" cy="160020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3246120" y="960120"/>
            <a:ext cx="2697480" cy="502920"/>
          </a:xfrm>
          <a:prstGeom prst="rect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3337560" y="960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🚛  Garbage Collectors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337560" y="1508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Municipal workers needing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optimized, demand-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based routing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6172200" y="960120"/>
            <a:ext cx="2697480" cy="160020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172200" y="960120"/>
            <a:ext cx="2697480" cy="502920"/>
          </a:xfrm>
          <a:prstGeom prst="rect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263640" y="960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🏛️  Municipal Corps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263640" y="1508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City authorities needing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accountability &amp;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5D6A7"/>
                </a:solidFill>
              </a:rPr>
              <a:t>analytics dashboards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2004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DE8B"/>
                </a:solidFill>
              </a:rPr>
              <a:t>📊  Market Share by City Type</a:t>
            </a:r>
            <a:endParaRPr lang="en-US" sz="12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320040" y="2999232"/>
          <a:ext cx="411480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Text 16"/>
          <p:cNvSpPr/>
          <p:nvPr/>
        </p:nvSpPr>
        <p:spPr>
          <a:xfrm>
            <a:off x="4617720" y="26974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DDE8B"/>
                </a:solidFill>
              </a:rPr>
              <a:t>    Market Scope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617720" y="3063240"/>
            <a:ext cx="420624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736592" y="3063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🏙️ Smart city initiatives rapidly expanding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617720" y="3483864"/>
            <a:ext cx="420624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4736592" y="348386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📱 Rising smartphone use among workers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617720" y="3904488"/>
            <a:ext cx="420624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736592" y="39044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🇮🇳 Swachh Bharat + Digital India push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617720" y="4325112"/>
            <a:ext cx="420624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736592" y="432511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📈 Tier 1→ optimize  |  Tier 2/3→ digitize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4617720" y="4745736"/>
            <a:ext cx="420624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4736592" y="474573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🤝 Municipal partnership-ready model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-27432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" y="3749040"/>
            <a:ext cx="1371600" cy="1371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0312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45720"/>
            <a:ext cx="548640" cy="5486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0F"/>
          </a:solidFill>
          <a:ln w="12700">
            <a:solidFill>
              <a:srgbClr val="0F1F0F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C71"/>
                </a:solidFill>
              </a:rPr>
              <a:t>                                   Tech Stack</a:t>
            </a:r>
            <a:endParaRPr lang="en-US" sz="3000" dirty="0"/>
          </a:p>
        </p:txBody>
      </p:sp>
      <p:sp>
        <p:nvSpPr>
          <p:cNvPr id="9" name="Shape 3"/>
          <p:cNvSpPr/>
          <p:nvPr/>
        </p:nvSpPr>
        <p:spPr>
          <a:xfrm>
            <a:off x="320040" y="987552"/>
            <a:ext cx="2697480" cy="1417320"/>
          </a:xfrm>
          <a:prstGeom prst="rect">
            <a:avLst/>
          </a:prstGeom>
          <a:solidFill>
            <a:srgbClr val="152415"/>
          </a:solidFill>
          <a:ln w="12700">
            <a:solidFill>
              <a:srgbClr val="00B359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320040" y="987552"/>
            <a:ext cx="2697480" cy="438912"/>
          </a:xfrm>
          <a:prstGeom prst="rect">
            <a:avLst/>
          </a:prstGeom>
          <a:solidFill>
            <a:srgbClr val="0F4A25"/>
          </a:solidFill>
          <a:ln w="12700">
            <a:solidFill>
              <a:srgbClr val="00B359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411480" y="1042416"/>
            <a:ext cx="329184" cy="329184"/>
          </a:xfrm>
          <a:prstGeom prst="ellipse">
            <a:avLst/>
          </a:prstGeom>
          <a:solidFill>
            <a:srgbClr val="00B359"/>
          </a:solidFill>
          <a:ln w="12700">
            <a:solidFill>
              <a:srgbClr val="00B359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393192" y="103327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📱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795528" y="104241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 / Mobile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29768" y="149047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5D6A7"/>
                </a:solidFill>
              </a:rPr>
              <a:t>React Native  |  Flutter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3154680" y="987552"/>
            <a:ext cx="2697480" cy="14173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3154680" y="987552"/>
            <a:ext cx="2697480" cy="438912"/>
          </a:xfrm>
          <a:prstGeom prst="rect">
            <a:avLst/>
          </a:prstGeom>
          <a:solidFill>
            <a:srgbClr val="0A3018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3246120" y="1042416"/>
            <a:ext cx="329184" cy="329184"/>
          </a:xfrm>
          <a:prstGeom prst="ellipse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227832" y="103327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🖥️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630168" y="104241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264408" y="149047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5D6A7"/>
                </a:solidFill>
              </a:rPr>
              <a:t>Node.js  |  Express.js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989320" y="987552"/>
            <a:ext cx="2697480" cy="1417320"/>
          </a:xfrm>
          <a:prstGeom prst="rect">
            <a:avLst/>
          </a:prstGeom>
          <a:solidFill>
            <a:srgbClr val="152415"/>
          </a:solidFill>
          <a:ln w="12700">
            <a:solidFill>
              <a:srgbClr val="00B359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989320" y="987552"/>
            <a:ext cx="2697480" cy="438912"/>
          </a:xfrm>
          <a:prstGeom prst="rect">
            <a:avLst/>
          </a:prstGeom>
          <a:solidFill>
            <a:srgbClr val="0F4A25"/>
          </a:solidFill>
          <a:ln w="12700">
            <a:solidFill>
              <a:srgbClr val="00B359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080760" y="1042416"/>
            <a:ext cx="329184" cy="329184"/>
          </a:xfrm>
          <a:prstGeom prst="ellipse">
            <a:avLst/>
          </a:prstGeom>
          <a:solidFill>
            <a:srgbClr val="00B359"/>
          </a:solidFill>
          <a:ln w="12700">
            <a:solidFill>
              <a:srgbClr val="00B35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062472" y="103327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🗄️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6464808" y="1042416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099048" y="149047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5D6A7"/>
                </a:solidFill>
              </a:rPr>
              <a:t>Firebase Firestore  |  MongoDB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320040" y="2569464"/>
            <a:ext cx="2697480" cy="14173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0040" y="2569464"/>
            <a:ext cx="2697480" cy="438912"/>
          </a:xfrm>
          <a:prstGeom prst="rect">
            <a:avLst/>
          </a:prstGeom>
          <a:solidFill>
            <a:srgbClr val="0A3018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11480" y="2624328"/>
            <a:ext cx="329184" cy="329184"/>
          </a:xfrm>
          <a:prstGeom prst="ellipse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93192" y="26151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🗺️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95528" y="262432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Geo-Location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429768" y="3072384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 smtClean="0">
                <a:solidFill>
                  <a:srgbClr val="A5D6A7"/>
                </a:solidFill>
              </a:rPr>
              <a:t>Leaflet</a:t>
            </a:r>
            <a:r>
              <a:rPr lang="en-US" sz="1250" dirty="0" smtClean="0">
                <a:solidFill>
                  <a:srgbClr val="A5D6A7"/>
                </a:solidFill>
              </a:rPr>
              <a:t>  </a:t>
            </a:r>
            <a:r>
              <a:rPr lang="en-US" sz="1250" dirty="0">
                <a:solidFill>
                  <a:srgbClr val="A5D6A7"/>
                </a:solidFill>
              </a:rPr>
              <a:t>|  Geofencing SDK</a:t>
            </a:r>
            <a:endParaRPr lang="en-US" sz="1250" dirty="0"/>
          </a:p>
        </p:txBody>
      </p:sp>
      <p:sp>
        <p:nvSpPr>
          <p:cNvPr id="33" name="Shape 27"/>
          <p:cNvSpPr/>
          <p:nvPr/>
        </p:nvSpPr>
        <p:spPr>
          <a:xfrm>
            <a:off x="3154680" y="2569464"/>
            <a:ext cx="2697480" cy="1417320"/>
          </a:xfrm>
          <a:prstGeom prst="rect">
            <a:avLst/>
          </a:prstGeom>
          <a:solidFill>
            <a:srgbClr val="152415"/>
          </a:solidFill>
          <a:ln w="12700">
            <a:solidFill>
              <a:srgbClr val="00B359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3154680" y="2569464"/>
            <a:ext cx="2697480" cy="438912"/>
          </a:xfrm>
          <a:prstGeom prst="rect">
            <a:avLst/>
          </a:prstGeom>
          <a:solidFill>
            <a:srgbClr val="0F4A25"/>
          </a:solidFill>
          <a:ln w="12700">
            <a:solidFill>
              <a:srgbClr val="00B359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246120" y="2624328"/>
            <a:ext cx="329184" cy="329184"/>
          </a:xfrm>
          <a:prstGeom prst="ellipse">
            <a:avLst/>
          </a:prstGeom>
          <a:solidFill>
            <a:srgbClr val="00B359"/>
          </a:solidFill>
          <a:ln w="12700">
            <a:solidFill>
              <a:srgbClr val="00B35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227832" y="26151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3630168" y="262432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Push Notifications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3264408" y="3072384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5D6A7"/>
                </a:solidFill>
              </a:rPr>
              <a:t>Firebase Cloud Messaging</a:t>
            </a:r>
            <a:endParaRPr lang="en-US" sz="1250" dirty="0"/>
          </a:p>
        </p:txBody>
      </p:sp>
      <p:sp>
        <p:nvSpPr>
          <p:cNvPr id="39" name="Shape 33"/>
          <p:cNvSpPr/>
          <p:nvPr/>
        </p:nvSpPr>
        <p:spPr>
          <a:xfrm>
            <a:off x="5989320" y="2569464"/>
            <a:ext cx="2697480" cy="14173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5989320" y="2569464"/>
            <a:ext cx="2697480" cy="438912"/>
          </a:xfrm>
          <a:prstGeom prst="rect">
            <a:avLst/>
          </a:prstGeom>
          <a:solidFill>
            <a:srgbClr val="0A3018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6080760" y="2624328"/>
            <a:ext cx="329184" cy="329184"/>
          </a:xfrm>
          <a:prstGeom prst="ellipse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062472" y="26151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3" name="Text 37"/>
          <p:cNvSpPr/>
          <p:nvPr/>
        </p:nvSpPr>
        <p:spPr>
          <a:xfrm>
            <a:off x="6464808" y="2624328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 / Admin</a:t>
            </a:r>
            <a:endParaRPr lang="en-US" sz="1200" dirty="0"/>
          </a:p>
        </p:txBody>
      </p:sp>
      <p:sp>
        <p:nvSpPr>
          <p:cNvPr id="44" name="Text 38"/>
          <p:cNvSpPr/>
          <p:nvPr/>
        </p:nvSpPr>
        <p:spPr>
          <a:xfrm>
            <a:off x="6099048" y="3072384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A5D6A7"/>
                </a:solidFill>
              </a:rPr>
              <a:t>React Dashboard  |  Chart.js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-27432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" y="3749040"/>
            <a:ext cx="1371600" cy="1371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0312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45720"/>
            <a:ext cx="548640" cy="5486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0F"/>
          </a:solidFill>
          <a:ln w="12700">
            <a:solidFill>
              <a:srgbClr val="0F1F0F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71"/>
                </a:solidFill>
              </a:rPr>
              <a:t>                            Implementation Approach</a:t>
            </a:r>
            <a:endParaRPr lang="en-US" sz="2600" dirty="0"/>
          </a:p>
        </p:txBody>
      </p:sp>
      <p:sp>
        <p:nvSpPr>
          <p:cNvPr id="9" name="Shape 3"/>
          <p:cNvSpPr/>
          <p:nvPr/>
        </p:nvSpPr>
        <p:spPr>
          <a:xfrm>
            <a:off x="320040" y="960120"/>
            <a:ext cx="1508760" cy="804672"/>
          </a:xfrm>
          <a:prstGeom prst="rect">
            <a:avLst/>
          </a:prstGeom>
          <a:solidFill>
            <a:srgbClr val="1A6B35"/>
          </a:solidFill>
          <a:ln w="127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Text 4"/>
          <p:cNvSpPr/>
          <p:nvPr/>
        </p:nvSpPr>
        <p:spPr>
          <a:xfrm>
            <a:off x="374904" y="987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320040" y="10515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📲 Resident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Requests Pickup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1828800" y="11155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CC71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7"/>
          <p:cNvSpPr/>
          <p:nvPr/>
        </p:nvSpPr>
        <p:spPr>
          <a:xfrm>
            <a:off x="2103120" y="960120"/>
            <a:ext cx="1508760" cy="804672"/>
          </a:xfrm>
          <a:prstGeom prst="rect">
            <a:avLst/>
          </a:prstGeom>
          <a:solidFill>
            <a:srgbClr val="0A3018"/>
          </a:solidFill>
          <a:ln w="127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2157984" y="987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2103120" y="10515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📡 Geofence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Detects Arrival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3611880" y="11155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CC71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1"/>
          <p:cNvSpPr/>
          <p:nvPr/>
        </p:nvSpPr>
        <p:spPr>
          <a:xfrm>
            <a:off x="3886200" y="960120"/>
            <a:ext cx="1508760" cy="804672"/>
          </a:xfrm>
          <a:prstGeom prst="rect">
            <a:avLst/>
          </a:prstGeom>
          <a:solidFill>
            <a:srgbClr val="1A6B35"/>
          </a:solidFill>
          <a:ln w="127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3941064" y="987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3886200" y="10515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🗺️ Collector Gets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Live Route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394960" y="11155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CC71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5"/>
          <p:cNvSpPr/>
          <p:nvPr/>
        </p:nvSpPr>
        <p:spPr>
          <a:xfrm>
            <a:off x="5669280" y="960120"/>
            <a:ext cx="1508760" cy="804672"/>
          </a:xfrm>
          <a:prstGeom prst="rect">
            <a:avLst/>
          </a:prstGeom>
          <a:solidFill>
            <a:srgbClr val="0A3018"/>
          </a:solidFill>
          <a:ln w="127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724144" y="987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669280" y="10515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🔄 Forced Status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Update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178040" y="11155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CC71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19"/>
          <p:cNvSpPr/>
          <p:nvPr/>
        </p:nvSpPr>
        <p:spPr>
          <a:xfrm>
            <a:off x="7452360" y="960120"/>
            <a:ext cx="1508760" cy="804672"/>
          </a:xfrm>
          <a:prstGeom prst="rect">
            <a:avLst/>
          </a:prstGeom>
          <a:solidFill>
            <a:srgbClr val="1A6B35"/>
          </a:solidFill>
          <a:ln w="12700">
            <a:solidFill>
              <a:srgbClr val="2ECC71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7507224" y="987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</a:rPr>
              <a:t>5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452360" y="10515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📊 Admin Gets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</a:rPr>
              <a:t>Analytics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320040" y="1901952"/>
            <a:ext cx="8485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DE8B"/>
                </a:solidFill>
              </a:rPr>
              <a:t>✅  Feasibility &amp; Viability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320040" y="2304288"/>
            <a:ext cx="2697480" cy="9601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11480" y="235915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💰  No Hardware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11480" y="268833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</a:rPr>
              <a:t>Existing smartphones only. Zero infrastructure.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3154680" y="2304288"/>
            <a:ext cx="2697480" cy="9601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246120" y="235915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☁️  Cloud Scalable</a:t>
            </a:r>
            <a:endParaRPr lang="en-US" sz="1200" dirty="0"/>
          </a:p>
        </p:txBody>
      </p:sp>
      <p:sp>
        <p:nvSpPr>
          <p:cNvPr id="34" name="Text 28"/>
          <p:cNvSpPr/>
          <p:nvPr/>
        </p:nvSpPr>
        <p:spPr>
          <a:xfrm>
            <a:off x="3246120" y="268833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</a:rPr>
              <a:t>Firebase scales 1 zone → 1000+ cities.</a:t>
            </a:r>
            <a:endParaRPr lang="en-US" sz="1050" dirty="0"/>
          </a:p>
        </p:txBody>
      </p:sp>
      <p:sp>
        <p:nvSpPr>
          <p:cNvPr id="35" name="Shape 29"/>
          <p:cNvSpPr/>
          <p:nvPr/>
        </p:nvSpPr>
        <p:spPr>
          <a:xfrm>
            <a:off x="5989320" y="2304288"/>
            <a:ext cx="2697480" cy="9601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080760" y="235915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📶  Low Bandwidth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6080760" y="268833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</a:rPr>
              <a:t>Designed for Tier 2/3 low-data environments.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320040" y="3328416"/>
            <a:ext cx="2697480" cy="9601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11480" y="338328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🎓  Minimal Training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411480" y="371246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</a:rPr>
              <a:t>Ultra-simple UI for collectors.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3154680" y="3328416"/>
            <a:ext cx="2697480" cy="9601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3246120" y="338328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🤝  Municipal Model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3246120" y="371246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</a:rPr>
              <a:t>Pilot → prove KPIs → expand via contracts.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5989320" y="3328416"/>
            <a:ext cx="2697480" cy="9601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080760" y="3383280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🔒  Proven Stack</a:t>
            </a:r>
            <a:endParaRPr lang="en-US" sz="1200" dirty="0"/>
          </a:p>
        </p:txBody>
      </p:sp>
      <p:sp>
        <p:nvSpPr>
          <p:cNvPr id="46" name="Text 40"/>
          <p:cNvSpPr/>
          <p:nvPr/>
        </p:nvSpPr>
        <p:spPr>
          <a:xfrm>
            <a:off x="6080760" y="371246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5D6A7"/>
                </a:solidFill>
              </a:rPr>
              <a:t>FCM, Maps API, Firebase: production-proven.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-27432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" y="3749040"/>
            <a:ext cx="1371600" cy="1371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0312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45720"/>
            <a:ext cx="548640" cy="5486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0F"/>
          </a:solidFill>
          <a:ln w="12700">
            <a:solidFill>
              <a:srgbClr val="0F1F0F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CC71"/>
                </a:solidFill>
              </a:rPr>
              <a:t>                             Market Potential &amp; Cost Advantage</a:t>
            </a:r>
            <a:endParaRPr lang="en-US" sz="2400" dirty="0"/>
          </a:p>
        </p:txBody>
      </p:sp>
      <p:sp>
        <p:nvSpPr>
          <p:cNvPr id="9" name="Shape 3"/>
          <p:cNvSpPr/>
          <p:nvPr/>
        </p:nvSpPr>
        <p:spPr>
          <a:xfrm>
            <a:off x="320040" y="960120"/>
            <a:ext cx="2697480" cy="9601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0" name="Shape 4"/>
          <p:cNvSpPr/>
          <p:nvPr/>
        </p:nvSpPr>
        <p:spPr>
          <a:xfrm>
            <a:off x="320040" y="960120"/>
            <a:ext cx="269748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32004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CC71"/>
                </a:solidFill>
              </a:rPr>
              <a:t>150K+</a:t>
            </a:r>
            <a:endParaRPr lang="en-US" sz="3200" dirty="0"/>
          </a:p>
        </p:txBody>
      </p:sp>
      <p:sp>
        <p:nvSpPr>
          <p:cNvPr id="12" name="Text 6"/>
          <p:cNvSpPr/>
          <p:nvPr/>
        </p:nvSpPr>
        <p:spPr>
          <a:xfrm>
            <a:off x="320040" y="157276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5D6A7"/>
                </a:solidFill>
              </a:rPr>
              <a:t>Tons waste/day</a:t>
            </a:r>
            <a:endParaRPr lang="en-US" sz="1050" dirty="0"/>
          </a:p>
        </p:txBody>
      </p:sp>
      <p:sp>
        <p:nvSpPr>
          <p:cNvPr id="13" name="Shape 7"/>
          <p:cNvSpPr/>
          <p:nvPr/>
        </p:nvSpPr>
        <p:spPr>
          <a:xfrm>
            <a:off x="3246120" y="960120"/>
            <a:ext cx="2697480" cy="9601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3246120" y="960120"/>
            <a:ext cx="269748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324612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CC71"/>
                </a:solidFill>
              </a:rPr>
              <a:t>4,000+</a:t>
            </a:r>
            <a:endParaRPr lang="en-US" sz="3200" dirty="0"/>
          </a:p>
        </p:txBody>
      </p:sp>
      <p:sp>
        <p:nvSpPr>
          <p:cNvPr id="16" name="Text 10"/>
          <p:cNvSpPr/>
          <p:nvPr/>
        </p:nvSpPr>
        <p:spPr>
          <a:xfrm>
            <a:off x="3246120" y="157276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5D6A7"/>
                </a:solidFill>
              </a:rPr>
              <a:t>Cities semi-manual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6172200" y="960120"/>
            <a:ext cx="2697480" cy="96012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172200" y="960120"/>
            <a:ext cx="2697480" cy="73152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6172200" y="105156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ECC71"/>
                </a:solidFill>
              </a:rPr>
              <a:t>₹3,000Cr</a:t>
            </a:r>
            <a:endParaRPr lang="en-US" sz="3200" dirty="0"/>
          </a:p>
        </p:txBody>
      </p:sp>
      <p:sp>
        <p:nvSpPr>
          <p:cNvPr id="20" name="Text 14"/>
          <p:cNvSpPr/>
          <p:nvPr/>
        </p:nvSpPr>
        <p:spPr>
          <a:xfrm>
            <a:off x="6172200" y="1572768"/>
            <a:ext cx="2697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5D6A7"/>
                </a:solidFill>
              </a:rPr>
              <a:t>Annual waste budget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320040" y="2057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DE8B"/>
                </a:solidFill>
              </a:rPr>
              <a:t>💰  Cost Comparison — Without vs With EcoTrack (₹/day)</a:t>
            </a:r>
            <a:endParaRPr lang="en-US" sz="11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320040" y="2359152"/>
          <a:ext cx="54864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" name="Text 16"/>
          <p:cNvSpPr/>
          <p:nvPr/>
        </p:nvSpPr>
        <p:spPr>
          <a:xfrm>
            <a:off x="5943600" y="205740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DE8B"/>
                </a:solidFill>
              </a:rPr>
              <a:t>✅  Cost Advantages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943600" y="2395728"/>
            <a:ext cx="288036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6053328" y="23957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📵 No sensors / hardware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943600" y="2825496"/>
            <a:ext cx="288036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053328" y="28254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📱 Uses existing phones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5943600" y="3255264"/>
            <a:ext cx="288036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53328" y="32552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☁️ Pay-as-you-scale cloud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5943600" y="3685032"/>
            <a:ext cx="288036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053328" y="3685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⛽ 20–30% fuel savings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5943600" y="4114800"/>
            <a:ext cx="288036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053328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📉 70% missed pickup cost drop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5943600" y="4544568"/>
            <a:ext cx="288036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053328" y="45445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5E9"/>
                </a:solidFill>
              </a:rPr>
              <a:t>💵 ₹16.2L saved/city/month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-27432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" y="3749040"/>
            <a:ext cx="1371600" cy="1371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0312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45720"/>
            <a:ext cx="548640" cy="5486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0F"/>
          </a:solidFill>
          <a:ln w="12700">
            <a:solidFill>
              <a:srgbClr val="0F1F0F"/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ECC71"/>
                </a:solidFill>
              </a:rPr>
              <a:t>                                   Financial Impact</a:t>
            </a:r>
            <a:endParaRPr lang="en-US" sz="2800" dirty="0"/>
          </a:p>
        </p:txBody>
      </p:sp>
      <p:sp>
        <p:nvSpPr>
          <p:cNvPr id="9" name="Text 3"/>
          <p:cNvSpPr/>
          <p:nvPr/>
        </p:nvSpPr>
        <p:spPr>
          <a:xfrm>
            <a:off x="320040" y="987552"/>
            <a:ext cx="8485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DDE8B"/>
                </a:solidFill>
              </a:rPr>
              <a:t>📉  Missed Pickup Analysis</a:t>
            </a: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320040" y="1298448"/>
            <a:ext cx="8485632" cy="347472"/>
          </a:xfrm>
          <a:prstGeom prst="rect">
            <a:avLst/>
          </a:prstGeom>
          <a:solidFill>
            <a:srgbClr val="1A6B3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457200" y="12984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Scenario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337560" y="12984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Missed Rate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760720" y="1298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Daily Cost (1000 homes)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320040" y="1673352"/>
            <a:ext cx="8485632" cy="438912"/>
          </a:xfrm>
          <a:prstGeom prst="rect">
            <a:avLst/>
          </a:prstGeom>
          <a:solidFill>
            <a:srgbClr val="1A0808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57200" y="167335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❌  Without EcoTrack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3337560" y="167335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6B"/>
                </a:solidFill>
              </a:rPr>
              <a:t>20% – 30%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5760720" y="1673352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6B"/>
                </a:solidFill>
              </a:rPr>
              <a:t>₹75,000 / day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320040" y="2148840"/>
            <a:ext cx="8485632" cy="438912"/>
          </a:xfrm>
          <a:prstGeom prst="rect">
            <a:avLst/>
          </a:prstGeom>
          <a:solidFill>
            <a:srgbClr val="081A0D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57200" y="21488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✅  With EcoTrack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3337560" y="2148840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C71"/>
                </a:solidFill>
              </a:rPr>
              <a:t>5% – 8%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5760720" y="2148840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CC71"/>
                </a:solidFill>
              </a:rPr>
              <a:t>₹21,000 / day</a:t>
            </a:r>
            <a:endParaRPr lang="en-US" sz="1500" dirty="0"/>
          </a:p>
        </p:txBody>
      </p:sp>
      <p:sp>
        <p:nvSpPr>
          <p:cNvPr id="22" name="Shape 16"/>
          <p:cNvSpPr/>
          <p:nvPr/>
        </p:nvSpPr>
        <p:spPr>
          <a:xfrm>
            <a:off x="320040" y="2624328"/>
            <a:ext cx="8485632" cy="438912"/>
          </a:xfrm>
          <a:prstGeom prst="rect">
            <a:avLst/>
          </a:prstGeom>
          <a:solidFill>
            <a:srgbClr val="1A6B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57200" y="262432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Monthly Savings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3337560" y="262432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E795"/>
                </a:solidFill>
              </a:rPr>
              <a:t>60–75% drop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760720" y="2624328"/>
            <a:ext cx="2926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9E795"/>
                </a:solidFill>
              </a:rPr>
              <a:t>₹16,20,000 / month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320040" y="31821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DE8B"/>
                </a:solidFill>
              </a:rPr>
              <a:t>📊  Projected Monthly Savings Growth (₹ Lakhs)</a:t>
            </a:r>
            <a:endParaRPr lang="en-US" sz="1150" dirty="0"/>
          </a:p>
        </p:txBody>
      </p:sp>
      <p:graphicFrame>
        <p:nvGraphicFramePr>
          <p:cNvPr id="27" name="Chart 0"/>
          <p:cNvGraphicFramePr/>
          <p:nvPr/>
        </p:nvGraphicFramePr>
        <p:xfrm>
          <a:off x="320040" y="3474720"/>
          <a:ext cx="5029200" cy="14813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8" name="Shape 21"/>
          <p:cNvSpPr/>
          <p:nvPr/>
        </p:nvSpPr>
        <p:spPr>
          <a:xfrm>
            <a:off x="5440680" y="3182112"/>
            <a:ext cx="3364992" cy="178308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5577840" y="32461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🚛  Fuel &amp; Time Savings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559552" y="3611880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9"/>
                </a:solidFill>
              </a:rPr>
              <a:t>⛽ 20–30% fuel cost reduction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5559552" y="3995928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9"/>
                </a:solidFill>
              </a:rPr>
              <a:t>⏱️ More areas covered — same crew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559552" y="4379976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5E9"/>
                </a:solidFill>
              </a:rPr>
              <a:t>💵 ₹3,000–₹4,500 saved/truck/month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-27432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" y="3749040"/>
            <a:ext cx="1371600" cy="1371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0312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45720"/>
            <a:ext cx="548640" cy="54864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822960"/>
            <a:ext cx="3017520" cy="2377440"/>
          </a:xfrm>
          <a:prstGeom prst="rect">
            <a:avLst/>
          </a:prstGeom>
        </p:spPr>
      </p:pic>
      <p:sp>
        <p:nvSpPr>
          <p:cNvPr id="7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1F0F"/>
          </a:solidFill>
          <a:ln w="12700">
            <a:solidFill>
              <a:srgbClr val="0F1F0F"/>
            </a:solidFill>
            <a:prstDash val="solid"/>
          </a:ln>
        </p:spPr>
      </p:sp>
      <p:sp>
        <p:nvSpPr>
          <p:cNvPr id="8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2"/>
          <p:cNvSpPr/>
          <p:nvPr/>
        </p:nvSpPr>
        <p:spPr>
          <a:xfrm>
            <a:off x="320040" y="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C71"/>
                </a:solidFill>
              </a:rPr>
              <a:t>                              Outcomes &amp; KPIs</a:t>
            </a:r>
            <a:endParaRPr lang="en-US" sz="3000" dirty="0"/>
          </a:p>
        </p:txBody>
      </p:sp>
      <p:sp>
        <p:nvSpPr>
          <p:cNvPr id="10" name="Shape 3"/>
          <p:cNvSpPr/>
          <p:nvPr/>
        </p:nvSpPr>
        <p:spPr>
          <a:xfrm>
            <a:off x="320040" y="960120"/>
            <a:ext cx="1737360" cy="1078992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4"/>
          <p:cNvSpPr/>
          <p:nvPr/>
        </p:nvSpPr>
        <p:spPr>
          <a:xfrm>
            <a:off x="320040" y="10058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📉</a:t>
            </a:r>
            <a:endParaRPr lang="en-US" sz="2400" dirty="0"/>
          </a:p>
        </p:txBody>
      </p:sp>
      <p:sp>
        <p:nvSpPr>
          <p:cNvPr id="12" name="Text 5"/>
          <p:cNvSpPr/>
          <p:nvPr/>
        </p:nvSpPr>
        <p:spPr>
          <a:xfrm>
            <a:off x="320040" y="1399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D6A7"/>
                </a:solidFill>
              </a:rPr>
              <a:t>Missed Pickups</a:t>
            </a:r>
            <a:endParaRPr lang="en-US" sz="950" dirty="0"/>
          </a:p>
        </p:txBody>
      </p:sp>
      <p:sp>
        <p:nvSpPr>
          <p:cNvPr id="13" name="Text 6"/>
          <p:cNvSpPr/>
          <p:nvPr/>
        </p:nvSpPr>
        <p:spPr>
          <a:xfrm>
            <a:off x="320040" y="1673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</a:rPr>
              <a:t>↓ 60–75%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2194560" y="960120"/>
            <a:ext cx="1737360" cy="1078992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8"/>
          <p:cNvSpPr/>
          <p:nvPr/>
        </p:nvSpPr>
        <p:spPr>
          <a:xfrm>
            <a:off x="2194560" y="10058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16" name="Text 9"/>
          <p:cNvSpPr/>
          <p:nvPr/>
        </p:nvSpPr>
        <p:spPr>
          <a:xfrm>
            <a:off x="2194560" y="1399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D6A7"/>
                </a:solidFill>
              </a:rPr>
              <a:t>Successful Collections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2194560" y="1673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</a:rPr>
              <a:t>↑ 40%+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069080" y="960120"/>
            <a:ext cx="1737360" cy="1078992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4069080" y="10058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♻️</a:t>
            </a:r>
            <a:endParaRPr lang="en-US" sz="2400" dirty="0"/>
          </a:p>
        </p:txBody>
      </p:sp>
      <p:sp>
        <p:nvSpPr>
          <p:cNvPr id="20" name="Text 13"/>
          <p:cNvSpPr/>
          <p:nvPr/>
        </p:nvSpPr>
        <p:spPr>
          <a:xfrm>
            <a:off x="4069080" y="1399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D6A7"/>
                </a:solidFill>
              </a:rPr>
              <a:t>Eco Points Engagement</a:t>
            </a:r>
            <a:endParaRPr lang="en-US" sz="950" dirty="0"/>
          </a:p>
        </p:txBody>
      </p:sp>
      <p:sp>
        <p:nvSpPr>
          <p:cNvPr id="21" name="Text 14"/>
          <p:cNvSpPr/>
          <p:nvPr/>
        </p:nvSpPr>
        <p:spPr>
          <a:xfrm>
            <a:off x="4069080" y="1673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</a:rPr>
              <a:t>↑ Active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320040" y="2103120"/>
            <a:ext cx="1737360" cy="1078992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3" name="Text 16"/>
          <p:cNvSpPr/>
          <p:nvPr/>
        </p:nvSpPr>
        <p:spPr>
          <a:xfrm>
            <a:off x="320040" y="21488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🚛</a:t>
            </a:r>
            <a:endParaRPr lang="en-US" sz="2400" dirty="0"/>
          </a:p>
        </p:txBody>
      </p:sp>
      <p:sp>
        <p:nvSpPr>
          <p:cNvPr id="24" name="Text 17"/>
          <p:cNvSpPr/>
          <p:nvPr/>
        </p:nvSpPr>
        <p:spPr>
          <a:xfrm>
            <a:off x="320040" y="2542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D6A7"/>
                </a:solidFill>
              </a:rPr>
              <a:t>Collector Movement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320040" y="2816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</a:rPr>
              <a:t>↓ 30%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2194560" y="2103120"/>
            <a:ext cx="1737360" cy="1078992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2194560" y="21488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🌿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2194560" y="2542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D6A7"/>
                </a:solidFill>
              </a:rPr>
              <a:t>Cleaner Streets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2194560" y="2816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</a:rPr>
              <a:t>↓ Dumps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4069080" y="2103120"/>
            <a:ext cx="1737360" cy="1078992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4069080" y="21488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32" name="Text 25"/>
          <p:cNvSpPr/>
          <p:nvPr/>
        </p:nvSpPr>
        <p:spPr>
          <a:xfrm>
            <a:off x="4069080" y="25420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5D6A7"/>
                </a:solidFill>
              </a:rPr>
              <a:t>Monthly Savings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4069080" y="281635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CC71"/>
                </a:solidFill>
              </a:rPr>
              <a:t>₹16.2L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320040" y="3291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DDE8B"/>
                </a:solidFill>
              </a:rPr>
              <a:t>📊  Efficiency Improvement with EcoTrack (%)</a:t>
            </a:r>
            <a:endParaRPr lang="en-US" sz="115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320040" y="3593592"/>
          <a:ext cx="8485632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F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-274320"/>
            <a:ext cx="1645920" cy="16459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82880" y="3749040"/>
            <a:ext cx="1371600" cy="13716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103120"/>
            <a:ext cx="914400" cy="9144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" y="45720"/>
            <a:ext cx="548640" cy="5486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303520" y="-1371600"/>
            <a:ext cx="5029200" cy="5029200"/>
          </a:xfrm>
          <a:prstGeom prst="ellipse">
            <a:avLst/>
          </a:prstGeom>
          <a:solidFill>
            <a:srgbClr val="1A6B35">
              <a:alpha val="20000"/>
            </a:srgbClr>
          </a:solidFill>
          <a:ln w="12700">
            <a:solidFill>
              <a:srgbClr val="1A6B35">
                <a:alpha val="20000"/>
              </a:srgbClr>
            </a:solidFill>
            <a:prstDash val="solid"/>
          </a:ln>
        </p:spPr>
      </p:sp>
      <p:sp>
        <p:nvSpPr>
          <p:cNvPr id="7" name="Shape 1"/>
          <p:cNvSpPr/>
          <p:nvPr/>
        </p:nvSpPr>
        <p:spPr>
          <a:xfrm>
            <a:off x="-1371600" y="2286000"/>
            <a:ext cx="3657600" cy="3657600"/>
          </a:xfrm>
          <a:prstGeom prst="ellipse">
            <a:avLst/>
          </a:prstGeom>
          <a:solidFill>
            <a:srgbClr val="1A6B35">
              <a:alpha val="15000"/>
            </a:srgbClr>
          </a:solidFill>
          <a:ln w="12700">
            <a:solidFill>
              <a:srgbClr val="1A6B35">
                <a:alpha val="15000"/>
              </a:srgbClr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ECC71"/>
                </a:solidFill>
              </a:rPr>
              <a:t>                          Competitive Advantage &amp; Pitch</a:t>
            </a:r>
            <a:endParaRPr lang="en-US" sz="2600" dirty="0"/>
          </a:p>
        </p:txBody>
      </p:sp>
      <p:sp>
        <p:nvSpPr>
          <p:cNvPr id="10" name="Shape 4"/>
          <p:cNvSpPr/>
          <p:nvPr/>
        </p:nvSpPr>
        <p:spPr>
          <a:xfrm>
            <a:off x="320040" y="777240"/>
            <a:ext cx="566928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1" name="Text 5"/>
          <p:cNvSpPr/>
          <p:nvPr/>
        </p:nvSpPr>
        <p:spPr>
          <a:xfrm>
            <a:off x="457200" y="777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5E9"/>
                </a:solidFill>
              </a:rPr>
              <a:t>✔ Focus on coordination, not just tracking</a:t>
            </a:r>
            <a:endParaRPr lang="en-US" sz="1250" dirty="0"/>
          </a:p>
        </p:txBody>
      </p:sp>
      <p:sp>
        <p:nvSpPr>
          <p:cNvPr id="12" name="Shape 6"/>
          <p:cNvSpPr/>
          <p:nvPr/>
        </p:nvSpPr>
        <p:spPr>
          <a:xfrm>
            <a:off x="320040" y="1207008"/>
            <a:ext cx="566928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457200" y="12070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5E9"/>
                </a:solidFill>
              </a:rPr>
              <a:t>✔ Behavior-driven: forced updates + reward system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320040" y="1636776"/>
            <a:ext cx="566928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457200" y="163677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5E9"/>
                </a:solidFill>
              </a:rPr>
              <a:t>✔ Zero hardware dependency — pure software solution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320040" y="2066544"/>
            <a:ext cx="566928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57200" y="206654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5E9"/>
                </a:solidFill>
              </a:rPr>
              <a:t>✔ Designed for real-world Indian city usability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320040" y="2496312"/>
            <a:ext cx="5669280" cy="365760"/>
          </a:xfrm>
          <a:prstGeom prst="rect">
            <a:avLst/>
          </a:prstGeom>
          <a:solidFill>
            <a:srgbClr val="152415"/>
          </a:solidFill>
          <a:ln w="12700">
            <a:solidFill>
              <a:srgbClr val="1A6B35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457200" y="24963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5E9"/>
                </a:solidFill>
              </a:rPr>
              <a:t>✔ Admin dashboard for strategic city-level planning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320040" y="29718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DDE8B"/>
                </a:solidFill>
              </a:rPr>
              <a:t>     Adoption Strategy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457200" y="336499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🎁  Incentivize residents using Eco Points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373075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📱  Collector app: minimal UI, large buttons, offline-first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4096512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5E9"/>
                </a:solidFill>
              </a:rPr>
              <a:t>🏛️  Pilot one municipal zone → prove KPIs → expand city-wide</a:t>
            </a:r>
            <a:endParaRPr lang="en-US" sz="12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6126480" y="777240"/>
          <a:ext cx="27432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5" name="Shape 18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A6B35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274320" y="4544568"/>
            <a:ext cx="8595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"EcoTrack transforms waste collection from a blind, manual process into a smart, coordinated, and accountable system — improving efficiency, reducing waste, and making cities cleaner."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680</Words>
  <Application>Microsoft Office PowerPoint</Application>
  <PresentationFormat>On-screen Show (16:9)</PresentationFormat>
  <Paragraphs>204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EcoTrack – Smart Garbage Management</dc:title>
  <dc:subject>PptxGenJS Presentation</dc:subject>
  <dc:creator>PptxGenJS</dc:creator>
  <cp:lastModifiedBy>Asus</cp:lastModifiedBy>
  <cp:revision>4</cp:revision>
  <dcterms:created xsi:type="dcterms:W3CDTF">2026-04-19T16:42:52Z</dcterms:created>
  <dcterms:modified xsi:type="dcterms:W3CDTF">2026-10-20T03:34:51Z</dcterms:modified>
</cp:coreProperties>
</file>